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8" r:id="rId2"/>
  </p:sldMasterIdLst>
  <p:sldIdLst>
    <p:sldId id="256" r:id="rId3"/>
    <p:sldId id="257" r:id="rId4"/>
    <p:sldId id="258" r:id="rId5"/>
    <p:sldId id="259" r:id="rId6"/>
    <p:sldId id="268" r:id="rId7"/>
    <p:sldId id="260" r:id="rId8"/>
    <p:sldId id="269" r:id="rId9"/>
    <p:sldId id="270" r:id="rId10"/>
    <p:sldId id="261" r:id="rId11"/>
    <p:sldId id="262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3160" y="2077200"/>
            <a:ext cx="3905640" cy="180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438880" y="539280"/>
            <a:ext cx="3705120" cy="40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Google Shape;12;p2"/>
          <p:cNvSpPr/>
          <p:nvPr/>
        </p:nvSpPr>
        <p:spPr>
          <a:xfrm rot="2198400">
            <a:off x="412920" y="639000"/>
            <a:ext cx="2030400" cy="1086840"/>
          </a:xfrm>
          <a:prstGeom prst="ellipse">
            <a:avLst/>
          </a:prstGeom>
          <a:solidFill>
            <a:schemeClr val="lt1"/>
          </a:solidFill>
          <a:ln w="9525">
            <a:solidFill>
              <a:srgbClr val="294E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92040" y="3143520"/>
            <a:ext cx="4338720" cy="96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292040" y="0"/>
            <a:ext cx="6559560" cy="292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5" name="Google Shape;61;p11"/>
          <p:cNvCxnSpPr/>
          <p:nvPr/>
        </p:nvCxnSpPr>
        <p:spPr>
          <a:xfrm flipH="1">
            <a:off x="8556840" y="1031760"/>
            <a:ext cx="726120" cy="4868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13160" y="183996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13160" y="335448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4782240" y="183996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4782240" y="3354480"/>
            <a:ext cx="906120" cy="82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1" name="Google Shape;77;p13"/>
          <p:cNvCxnSpPr/>
          <p:nvPr/>
        </p:nvCxnSpPr>
        <p:spPr>
          <a:xfrm flipH="1">
            <a:off x="8219160" y="2570400"/>
            <a:ext cx="619560" cy="406728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44680" y="2211840"/>
            <a:ext cx="428616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0" y="539280"/>
            <a:ext cx="3544560" cy="406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0" y="2168640"/>
            <a:ext cx="3851640" cy="1203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131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Google Shape;86;p15"/>
          <p:cNvSpPr/>
          <p:nvPr/>
        </p:nvSpPr>
        <p:spPr>
          <a:xfrm rot="19401600" flipH="1">
            <a:off x="6799680" y="70344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720000" y="2138760"/>
            <a:ext cx="7461000" cy="229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720000" y="774000"/>
            <a:ext cx="7461000" cy="113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9" name="Google Shape;90;p16"/>
          <p:cNvCxnSpPr/>
          <p:nvPr/>
        </p:nvCxnSpPr>
        <p:spPr>
          <a:xfrm flipH="1">
            <a:off x="5344200" y="259920"/>
            <a:ext cx="380016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20" name="Google Shape;91;p16"/>
          <p:cNvCxnSpPr/>
          <p:nvPr/>
        </p:nvCxnSpPr>
        <p:spPr>
          <a:xfrm flipV="1">
            <a:off x="-475200" y="-1540080"/>
            <a:ext cx="1256040" cy="46868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21" name="Google Shape;92;p16"/>
          <p:cNvCxnSpPr/>
          <p:nvPr/>
        </p:nvCxnSpPr>
        <p:spPr>
          <a:xfrm flipV="1">
            <a:off x="7965360" y="2616480"/>
            <a:ext cx="1256040" cy="46875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3" name="Google Shape;99;p17"/>
          <p:cNvGrpSpPr/>
          <p:nvPr/>
        </p:nvGrpSpPr>
        <p:grpSpPr>
          <a:xfrm>
            <a:off x="-990360" y="-1919160"/>
            <a:ext cx="10580760" cy="7183800"/>
            <a:chOff x="-990360" y="-1919160"/>
            <a:chExt cx="10580760" cy="7183800"/>
          </a:xfrm>
        </p:grpSpPr>
        <p:cxnSp>
          <p:nvCxnSpPr>
            <p:cNvPr id="24" name="Google Shape;100;p17"/>
            <p:cNvCxnSpPr/>
            <p:nvPr/>
          </p:nvCxnSpPr>
          <p:spPr>
            <a:xfrm flipV="1">
              <a:off x="8334720" y="-1919160"/>
              <a:ext cx="1256040" cy="468684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sp>
          <p:nvSpPr>
            <p:cNvPr id="25" name="Google Shape;101;p17"/>
            <p:cNvSpPr/>
            <p:nvPr/>
          </p:nvSpPr>
          <p:spPr>
            <a:xfrm rot="19401600" flipH="1">
              <a:off x="-867240" y="367920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5707080" y="539280"/>
            <a:ext cx="3436560" cy="406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7" name="Google Shape;106;p18"/>
          <p:cNvCxnSpPr/>
          <p:nvPr/>
        </p:nvCxnSpPr>
        <p:spPr>
          <a:xfrm flipV="1">
            <a:off x="-475200" y="-1540080"/>
            <a:ext cx="1256040" cy="46868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20000" y="640080"/>
            <a:ext cx="4332960" cy="66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2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13160" y="1112040"/>
            <a:ext cx="3858480" cy="349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0" y="1112040"/>
            <a:ext cx="3858480" cy="349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2" name="Google Shape;112;p19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33" name="Google Shape;113;p19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34" name="Google Shape;114;p19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6" name="Google Shape;123;p20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37" name="Google Shape;124;p20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38" name="Google Shape;125;p20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623480" y="2446200"/>
            <a:ext cx="38070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623480" y="1121400"/>
            <a:ext cx="1368720" cy="117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0" y="539280"/>
            <a:ext cx="3807000" cy="406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Google Shape;18;p3"/>
          <p:cNvSpPr/>
          <p:nvPr/>
        </p:nvSpPr>
        <p:spPr>
          <a:xfrm rot="2198400">
            <a:off x="6703560" y="70812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4" name="Google Shape;136;p21"/>
          <p:cNvCxnSpPr/>
          <p:nvPr/>
        </p:nvCxnSpPr>
        <p:spPr>
          <a:xfrm>
            <a:off x="-20880" y="4869000"/>
            <a:ext cx="459324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6" name="Google Shape;151;p22"/>
          <p:cNvGrpSpPr/>
          <p:nvPr/>
        </p:nvGrpSpPr>
        <p:grpSpPr>
          <a:xfrm>
            <a:off x="-475200" y="-1540080"/>
            <a:ext cx="10957680" cy="4735800"/>
            <a:chOff x="-475200" y="-1540080"/>
            <a:chExt cx="10957680" cy="4735800"/>
          </a:xfrm>
        </p:grpSpPr>
        <p:cxnSp>
          <p:nvCxnSpPr>
            <p:cNvPr id="47" name="Google Shape;152;p22"/>
            <p:cNvCxnSpPr/>
            <p:nvPr/>
          </p:nvCxnSpPr>
          <p:spPr>
            <a:xfrm flipV="1">
              <a:off x="-475200" y="-1540080"/>
              <a:ext cx="1256040" cy="468684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sp>
          <p:nvSpPr>
            <p:cNvPr id="48" name="Google Shape;153;p22"/>
            <p:cNvSpPr/>
            <p:nvPr/>
          </p:nvSpPr>
          <p:spPr>
            <a:xfrm rot="2198400">
              <a:off x="8327880" y="161028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155;p23"/>
          <p:cNvCxnSpPr/>
          <p:nvPr/>
        </p:nvCxnSpPr>
        <p:spPr>
          <a:xfrm flipH="1">
            <a:off x="-185400" y="-574200"/>
            <a:ext cx="726120" cy="486828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3897360" cy="64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713160" y="1970280"/>
            <a:ext cx="3897360" cy="64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title"/>
          </p:nvPr>
        </p:nvSpPr>
        <p:spPr>
          <a:xfrm>
            <a:off x="713160" y="3401280"/>
            <a:ext cx="3897360" cy="64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401440" y="539280"/>
            <a:ext cx="3742560" cy="406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5" name="Google Shape;165;p24"/>
          <p:cNvGrpSpPr/>
          <p:nvPr/>
        </p:nvGrpSpPr>
        <p:grpSpPr>
          <a:xfrm>
            <a:off x="0" y="273960"/>
            <a:ext cx="9144000" cy="4595040"/>
            <a:chOff x="0" y="273960"/>
            <a:chExt cx="9144000" cy="4595040"/>
          </a:xfrm>
        </p:grpSpPr>
        <p:cxnSp>
          <p:nvCxnSpPr>
            <p:cNvPr id="56" name="Google Shape;166;p24"/>
            <p:cNvCxnSpPr/>
            <p:nvPr/>
          </p:nvCxnSpPr>
          <p:spPr>
            <a:xfrm>
              <a:off x="0" y="273960"/>
              <a:ext cx="7486920" cy="36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57" name="Google Shape;167;p24"/>
            <p:cNvCxnSpPr/>
            <p:nvPr/>
          </p:nvCxnSpPr>
          <p:spPr>
            <a:xfrm>
              <a:off x="4550760" y="4869000"/>
              <a:ext cx="4593600" cy="36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9" name="Google Shape;170;p25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60" name="Google Shape;171;p25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61" name="Google Shape;172;p25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3" name="Google Shape;175;p26"/>
          <p:cNvGrpSpPr/>
          <p:nvPr/>
        </p:nvGrpSpPr>
        <p:grpSpPr>
          <a:xfrm>
            <a:off x="-1519920" y="1112040"/>
            <a:ext cx="12154680" cy="3077280"/>
            <a:chOff x="-1519920" y="1112040"/>
            <a:chExt cx="12154680" cy="3077280"/>
          </a:xfrm>
        </p:grpSpPr>
        <p:sp>
          <p:nvSpPr>
            <p:cNvPr id="64" name="Google Shape;176;p26"/>
            <p:cNvSpPr/>
            <p:nvPr/>
          </p:nvSpPr>
          <p:spPr>
            <a:xfrm rot="2198400">
              <a:off x="8480160" y="161028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177;p26"/>
            <p:cNvSpPr/>
            <p:nvPr/>
          </p:nvSpPr>
          <p:spPr>
            <a:xfrm rot="2198400">
              <a:off x="-1396080" y="260388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514600" y="539280"/>
            <a:ext cx="4114440" cy="87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" name="Google Shape;181;p27"/>
          <p:cNvSpPr/>
          <p:nvPr/>
        </p:nvSpPr>
        <p:spPr>
          <a:xfrm>
            <a:off x="2908080" y="3573720"/>
            <a:ext cx="332784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algn="ctr"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Cabin"/>
                <a:ea typeface="Cabin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, including icons, infographics &amp; images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Cabin"/>
                <a:ea typeface="Cabin"/>
                <a:hlinkClick r:id="rId3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Google Shape;182;p27"/>
          <p:cNvSpPr/>
          <p:nvPr/>
        </p:nvSpPr>
        <p:spPr>
          <a:xfrm rot="2198400">
            <a:off x="6344640" y="-37152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Google Shape;183;p27"/>
          <p:cNvSpPr/>
          <p:nvPr/>
        </p:nvSpPr>
        <p:spPr>
          <a:xfrm rot="2198400">
            <a:off x="294840" y="4202640"/>
            <a:ext cx="2030400" cy="1086840"/>
          </a:xfrm>
          <a:prstGeom prst="ellipse">
            <a:avLst/>
          </a:prstGeom>
          <a:solidFill>
            <a:schemeClr val="lt2"/>
          </a:solidFill>
          <a:ln w="9525">
            <a:solidFill>
              <a:srgbClr val="F0EB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185;p28"/>
          <p:cNvGrpSpPr/>
          <p:nvPr/>
        </p:nvGrpSpPr>
        <p:grpSpPr>
          <a:xfrm>
            <a:off x="241560" y="-2410920"/>
            <a:ext cx="10240920" cy="7146000"/>
            <a:chOff x="241560" y="-2410920"/>
            <a:chExt cx="10240920" cy="7146000"/>
          </a:xfrm>
        </p:grpSpPr>
        <p:cxnSp>
          <p:nvCxnSpPr>
            <p:cNvPr id="71" name="Google Shape;186;p28"/>
            <p:cNvCxnSpPr/>
            <p:nvPr/>
          </p:nvCxnSpPr>
          <p:spPr>
            <a:xfrm flipV="1">
              <a:off x="241560" y="-2410920"/>
              <a:ext cx="1256040" cy="468684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sp>
          <p:nvSpPr>
            <p:cNvPr id="72" name="Google Shape;187;p28"/>
            <p:cNvSpPr/>
            <p:nvPr/>
          </p:nvSpPr>
          <p:spPr>
            <a:xfrm rot="2198400">
              <a:off x="8327880" y="3149640"/>
              <a:ext cx="2030400" cy="1086840"/>
            </a:xfrm>
            <a:prstGeom prst="ellipse">
              <a:avLst/>
            </a:prstGeom>
            <a:noFill/>
            <a:ln w="9525">
              <a:solidFill>
                <a:srgbClr val="294E4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89;p29"/>
          <p:cNvGrpSpPr/>
          <p:nvPr/>
        </p:nvGrpSpPr>
        <p:grpSpPr>
          <a:xfrm>
            <a:off x="0" y="273960"/>
            <a:ext cx="9144000" cy="4595040"/>
            <a:chOff x="0" y="273960"/>
            <a:chExt cx="9144000" cy="4595040"/>
          </a:xfrm>
        </p:grpSpPr>
        <p:cxnSp>
          <p:nvCxnSpPr>
            <p:cNvPr id="74" name="Google Shape;190;p29"/>
            <p:cNvCxnSpPr/>
            <p:nvPr/>
          </p:nvCxnSpPr>
          <p:spPr>
            <a:xfrm>
              <a:off x="0" y="4869000"/>
              <a:ext cx="7486920" cy="360"/>
            </a:xfrm>
            <a:prstGeom prst="straightConnector1">
              <a:avLst/>
            </a:prstGeom>
            <a:ln w="9525">
              <a:solidFill>
                <a:srgbClr val="F0EBE1"/>
              </a:solidFill>
              <a:round/>
            </a:ln>
          </p:spPr>
        </p:cxnSp>
        <p:cxnSp>
          <p:nvCxnSpPr>
            <p:cNvPr id="75" name="Google Shape;191;p29"/>
            <p:cNvCxnSpPr/>
            <p:nvPr/>
          </p:nvCxnSpPr>
          <p:spPr>
            <a:xfrm>
              <a:off x="4550760" y="273960"/>
              <a:ext cx="4593600" cy="360"/>
            </a:xfrm>
            <a:prstGeom prst="straightConnector1">
              <a:avLst/>
            </a:prstGeom>
            <a:ln w="9525">
              <a:solidFill>
                <a:srgbClr val="F0EBE1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193;p30"/>
          <p:cNvGrpSpPr/>
          <p:nvPr/>
        </p:nvGrpSpPr>
        <p:grpSpPr>
          <a:xfrm>
            <a:off x="361440" y="772200"/>
            <a:ext cx="8835480" cy="5697360"/>
            <a:chOff x="361440" y="772200"/>
            <a:chExt cx="8835480" cy="5697360"/>
          </a:xfrm>
        </p:grpSpPr>
        <p:cxnSp>
          <p:nvCxnSpPr>
            <p:cNvPr id="77" name="Google Shape;194;p30"/>
            <p:cNvCxnSpPr/>
            <p:nvPr/>
          </p:nvCxnSpPr>
          <p:spPr>
            <a:xfrm flipV="1">
              <a:off x="3614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78" name="Google Shape;195;p30"/>
            <p:cNvCxnSpPr/>
            <p:nvPr/>
          </p:nvCxnSpPr>
          <p:spPr>
            <a:xfrm flipH="1">
              <a:off x="8577720" y="1357920"/>
              <a:ext cx="619560" cy="40770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20000" y="1112040"/>
            <a:ext cx="7703640" cy="349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81" name="Google Shape;22;p4"/>
          <p:cNvGrpSpPr/>
          <p:nvPr/>
        </p:nvGrpSpPr>
        <p:grpSpPr>
          <a:xfrm>
            <a:off x="-289080" y="-1208160"/>
            <a:ext cx="9081720" cy="7677720"/>
            <a:chOff x="-289080" y="-1208160"/>
            <a:chExt cx="9081720" cy="7677720"/>
          </a:xfrm>
        </p:grpSpPr>
        <p:cxnSp>
          <p:nvCxnSpPr>
            <p:cNvPr id="82" name="Google Shape;23;p4"/>
            <p:cNvCxnSpPr/>
            <p:nvPr/>
          </p:nvCxnSpPr>
          <p:spPr>
            <a:xfrm flipV="1">
              <a:off x="87926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83" name="Google Shape;24;p4"/>
            <p:cNvCxnSpPr/>
            <p:nvPr/>
          </p:nvCxnSpPr>
          <p:spPr>
            <a:xfrm flipV="1">
              <a:off x="-289080" y="-1208160"/>
              <a:ext cx="1255680" cy="46872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5" name="Google Shape;31;p5"/>
          <p:cNvSpPr/>
          <p:nvPr/>
        </p:nvSpPr>
        <p:spPr>
          <a:xfrm rot="2198400">
            <a:off x="8276400" y="392760"/>
            <a:ext cx="2030400" cy="1086840"/>
          </a:xfrm>
          <a:prstGeom prst="ellipse">
            <a:avLst/>
          </a:prstGeom>
          <a:noFill/>
          <a:ln w="9525">
            <a:solidFill>
              <a:srgbClr val="294E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7" name="Google Shape;34;p6"/>
          <p:cNvGrpSpPr/>
          <p:nvPr/>
        </p:nvGrpSpPr>
        <p:grpSpPr>
          <a:xfrm>
            <a:off x="-289080" y="-1208160"/>
            <a:ext cx="9081720" cy="7677720"/>
            <a:chOff x="-289080" y="-1208160"/>
            <a:chExt cx="9081720" cy="7677720"/>
          </a:xfrm>
        </p:grpSpPr>
        <p:cxnSp>
          <p:nvCxnSpPr>
            <p:cNvPr id="88" name="Google Shape;35;p6"/>
            <p:cNvCxnSpPr/>
            <p:nvPr/>
          </p:nvCxnSpPr>
          <p:spPr>
            <a:xfrm flipV="1">
              <a:off x="87926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89" name="Google Shape;36;p6"/>
            <p:cNvCxnSpPr/>
            <p:nvPr/>
          </p:nvCxnSpPr>
          <p:spPr>
            <a:xfrm flipV="1">
              <a:off x="-289080" y="-1208160"/>
              <a:ext cx="1255680" cy="46872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849920" y="1919160"/>
            <a:ext cx="3409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2" name="Google Shape;40;p7"/>
          <p:cNvGrpSpPr/>
          <p:nvPr/>
        </p:nvGrpSpPr>
        <p:grpSpPr>
          <a:xfrm>
            <a:off x="-289080" y="-1208160"/>
            <a:ext cx="9081720" cy="7677720"/>
            <a:chOff x="-289080" y="-1208160"/>
            <a:chExt cx="9081720" cy="7677720"/>
          </a:xfrm>
        </p:grpSpPr>
        <p:cxnSp>
          <p:nvCxnSpPr>
            <p:cNvPr id="93" name="Google Shape;41;p7"/>
            <p:cNvCxnSpPr/>
            <p:nvPr/>
          </p:nvCxnSpPr>
          <p:spPr>
            <a:xfrm flipV="1">
              <a:off x="8792640" y="772200"/>
              <a:ext cx="360" cy="569772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  <p:cxnSp>
          <p:nvCxnSpPr>
            <p:cNvPr id="94" name="Google Shape;42;p7"/>
            <p:cNvCxnSpPr/>
            <p:nvPr/>
          </p:nvCxnSpPr>
          <p:spPr>
            <a:xfrm flipV="1">
              <a:off x="-289080" y="-1208160"/>
              <a:ext cx="1255680" cy="4687200"/>
            </a:xfrm>
            <a:prstGeom prst="straightConnector1">
              <a:avLst/>
            </a:prstGeom>
            <a:ln w="9525">
              <a:solidFill>
                <a:srgbClr val="294E4E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44;p8"/>
          <p:cNvCxnSpPr/>
          <p:nvPr/>
        </p:nvCxnSpPr>
        <p:spPr>
          <a:xfrm flipV="1">
            <a:off x="7967520" y="-228960"/>
            <a:ext cx="1463400" cy="54608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0" y="541800"/>
            <a:ext cx="2317680" cy="405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825960" y="541800"/>
            <a:ext cx="2317680" cy="405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720000" y="1452600"/>
            <a:ext cx="4332960" cy="315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720000" y="640080"/>
            <a:ext cx="4332960" cy="66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01" name="Google Shape;51;p9"/>
          <p:cNvCxnSpPr/>
          <p:nvPr/>
        </p:nvCxnSpPr>
        <p:spPr>
          <a:xfrm flipH="1">
            <a:off x="5344200" y="259920"/>
            <a:ext cx="3800160" cy="3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102" name="Google Shape;52;p9"/>
          <p:cNvCxnSpPr/>
          <p:nvPr/>
        </p:nvCxnSpPr>
        <p:spPr>
          <a:xfrm flipV="1">
            <a:off x="-475200" y="-1540080"/>
            <a:ext cx="1256040" cy="46868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103" name="Google Shape;53;p9"/>
          <p:cNvCxnSpPr/>
          <p:nvPr/>
        </p:nvCxnSpPr>
        <p:spPr>
          <a:xfrm flipV="1">
            <a:off x="7965360" y="2616480"/>
            <a:ext cx="1256040" cy="468756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title"/>
          </p:nvPr>
        </p:nvSpPr>
        <p:spPr>
          <a:xfrm>
            <a:off x="713160" y="539280"/>
            <a:ext cx="4183560" cy="535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yankshukla95" TargetMode="External"/><Relationship Id="rId2" Type="http://schemas.openxmlformats.org/officeDocument/2006/relationships/hyperlink" Target="https://www.linkedin.com/in/mayankshukla95/" TargetMode="Externa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06256" y="2076480"/>
            <a:ext cx="4860758" cy="197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E-Commerce User Conversion Funnel &amp; Revenue Optimization Analysis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714240" y="4124160"/>
            <a:ext cx="36288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bin"/>
                <a:ea typeface="Cabin"/>
              </a:rPr>
              <a:t>Mayank Shukla – Google Cloud BigQuery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09" name="Google Shape;208;p34"/>
          <p:cNvPicPr/>
          <p:nvPr/>
        </p:nvPicPr>
        <p:blipFill>
          <a:blip r:embed="rId2"/>
          <a:srcRect l="25819" t="14288" r="28588" b="10471"/>
          <a:stretch/>
        </p:blipFill>
        <p:spPr>
          <a:xfrm>
            <a:off x="5438880" y="539280"/>
            <a:ext cx="3705120" cy="4075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0" name="Google Shape;209;p34"/>
          <p:cNvCxnSpPr>
            <a:cxnSpLocks/>
          </p:cNvCxnSpPr>
          <p:nvPr/>
        </p:nvCxnSpPr>
        <p:spPr>
          <a:xfrm>
            <a:off x="206256" y="4052880"/>
            <a:ext cx="4365744" cy="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  <p:cxnSp>
        <p:nvCxnSpPr>
          <p:cNvPr id="111" name="Google Shape;210;p34"/>
          <p:cNvCxnSpPr/>
          <p:nvPr/>
        </p:nvCxnSpPr>
        <p:spPr>
          <a:xfrm flipH="1">
            <a:off x="4618800" y="539280"/>
            <a:ext cx="619560" cy="4076640"/>
          </a:xfrm>
          <a:prstGeom prst="straightConnector1">
            <a:avLst/>
          </a:prstGeom>
          <a:ln w="9525">
            <a:solidFill>
              <a:srgbClr val="294E4E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355;p45"/>
          <p:cNvCxnSpPr/>
          <p:nvPr/>
        </p:nvCxnSpPr>
        <p:spPr>
          <a:xfrm flipH="1">
            <a:off x="3746160" y="539280"/>
            <a:ext cx="619560" cy="4076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0" y="2179435"/>
            <a:ext cx="3847680" cy="6245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dirty="0">
                <a:solidFill>
                  <a:schemeClr val="lt1"/>
                </a:solidFill>
                <a:latin typeface="EB Garamond"/>
                <a:ea typeface="EB Garamond"/>
              </a:rPr>
              <a:t>Business Context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4572000" y="2853563"/>
            <a:ext cx="3847680" cy="174651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E - commerce platform with user event tracking.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High traffic but low conversion efficiency.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Need to understand user journey.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Goal : Improve conversion &amp; revenue.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15" name="Google Shape;358;p45"/>
          <p:cNvPicPr/>
          <p:nvPr/>
        </p:nvPicPr>
        <p:blipFill>
          <a:blip r:embed="rId2"/>
          <a:srcRect t="209" b="209"/>
          <a:stretch/>
        </p:blipFill>
        <p:spPr>
          <a:xfrm>
            <a:off x="0" y="0"/>
            <a:ext cx="413172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6" name="Google Shape;359;p45"/>
          <p:cNvCxnSpPr/>
          <p:nvPr/>
        </p:nvCxnSpPr>
        <p:spPr>
          <a:xfrm>
            <a:off x="4642920" y="2803638"/>
            <a:ext cx="3705840" cy="36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5048280" y="137504"/>
            <a:ext cx="3619080" cy="16156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Problem Statement</a:t>
            </a:r>
          </a:p>
        </p:txBody>
      </p:sp>
      <p:pic>
        <p:nvPicPr>
          <p:cNvPr id="119" name="image6997f2cede9fe" descr="image6997f2cedea03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540166-965C-ADA4-2865-4F1BC5B859B4}"/>
              </a:ext>
            </a:extLst>
          </p:cNvPr>
          <p:cNvSpPr/>
          <p:nvPr/>
        </p:nvSpPr>
        <p:spPr>
          <a:xfrm>
            <a:off x="5048280" y="1753172"/>
            <a:ext cx="3619080" cy="26125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91771-D85A-A9CF-7970-C95AF7F25683}"/>
              </a:ext>
            </a:extLst>
          </p:cNvPr>
          <p:cNvSpPr/>
          <p:nvPr/>
        </p:nvSpPr>
        <p:spPr>
          <a:xfrm>
            <a:off x="5048280" y="1753170"/>
            <a:ext cx="3619080" cy="26125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9AE6D1B2-C2CC-A3DC-07D8-CCF83FF819F6}"/>
              </a:ext>
            </a:extLst>
          </p:cNvPr>
          <p:cNvSpPr txBox="1">
            <a:spLocks/>
          </p:cNvSpPr>
          <p:nvPr/>
        </p:nvSpPr>
        <p:spPr>
          <a:xfrm>
            <a:off x="5048280" y="1849427"/>
            <a:ext cx="3619080" cy="197317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OpenSymbol"/>
              </a:rPr>
              <a:t>Identify funnel drop-off stages.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OpenSymbol"/>
              </a:rPr>
              <a:t>Measure conversion rates.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OpenSymbol"/>
              </a:rPr>
              <a:t>Evaluate revenue contribution by source.</a:t>
            </a:r>
          </a:p>
        </p:txBody>
      </p:sp>
      <p:cxnSp>
        <p:nvCxnSpPr>
          <p:cNvPr id="2" name="Google Shape;359;p45">
            <a:extLst>
              <a:ext uri="{FF2B5EF4-FFF2-40B4-BE49-F238E27FC236}">
                <a16:creationId xmlns:a16="http://schemas.microsoft.com/office/drawing/2014/main" id="{0DC8C2F5-CF27-F840-1E70-AC04D77E683F}"/>
              </a:ext>
            </a:extLst>
          </p:cNvPr>
          <p:cNvCxnSpPr/>
          <p:nvPr/>
        </p:nvCxnSpPr>
        <p:spPr>
          <a:xfrm>
            <a:off x="4961520" y="1752632"/>
            <a:ext cx="3705840" cy="360"/>
          </a:xfrm>
          <a:prstGeom prst="straightConnector1">
            <a:avLst/>
          </a:prstGeom>
          <a:ln w="9525">
            <a:solidFill>
              <a:schemeClr val="tx1"/>
            </a:solidFill>
            <a:round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dirty="0">
                <a:solidFill>
                  <a:schemeClr val="dk1"/>
                </a:solidFill>
                <a:latin typeface="EB Garamond"/>
              </a:rPr>
              <a:t>Dataset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EB Garamond"/>
              </a:rPr>
              <a:t> Overview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476280" y="1705046"/>
            <a:ext cx="8191080" cy="2961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Total Users :- 5000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Total Event Types :- 5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Event Type :-  1. page_view, 2. add_to_cart, 3. checkout_start, 4. payment_info, 5. purchase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Total Traffic Source :- 4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Traffic Source :- 1. email, 2. organic, 3. paid_ads, 4. social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Date Start :- 30-12-2025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Date End :- 03-02-2026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Total Ro</a:t>
            </a:r>
            <a:r>
              <a:rPr lang="en-US" sz="1200" dirty="0">
                <a:solidFill>
                  <a:srgbClr val="000000"/>
                </a:solidFill>
                <a:latin typeface="OpenSymbol"/>
              </a:rPr>
              <a:t>ws :- 9381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Total Columns :- 7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Column Name :- 1. event_id, 2. user_id, 3. event_type, 4. event_date, 5. product_id, 6. amount, 7. traffic_source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" name="Google Shape;359;p45">
            <a:extLst>
              <a:ext uri="{FF2B5EF4-FFF2-40B4-BE49-F238E27FC236}">
                <a16:creationId xmlns:a16="http://schemas.microsoft.com/office/drawing/2014/main" id="{3BA9A159-E854-10CF-ED13-590335C980F4}"/>
              </a:ext>
            </a:extLst>
          </p:cNvPr>
          <p:cNvCxnSpPr/>
          <p:nvPr/>
        </p:nvCxnSpPr>
        <p:spPr>
          <a:xfrm>
            <a:off x="476280" y="1168241"/>
            <a:ext cx="3705840" cy="360"/>
          </a:xfrm>
          <a:prstGeom prst="straightConnector1">
            <a:avLst/>
          </a:prstGeom>
          <a:ln w="9525">
            <a:solidFill>
              <a:schemeClr val="tx1"/>
            </a:solidFill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92BD9-13D8-86C0-83E4-CC7DBC80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0932F257-CC5F-65B8-288A-CBDB5330AA35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A366973-CD86-8E72-AB3D-EB1653A0C3FA}"/>
              </a:ext>
            </a:extLst>
          </p:cNvPr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 descr="A screen shot of a graph&#10;&#10;Description automatically generated">
            <a:extLst>
              <a:ext uri="{FF2B5EF4-FFF2-40B4-BE49-F238E27FC236}">
                <a16:creationId xmlns:a16="http://schemas.microsoft.com/office/drawing/2014/main" id="{D0844199-C7E4-4486-EF0C-E9496B0EB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90" y="0"/>
            <a:ext cx="653262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1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screen">
            <a:extLst>
              <a:ext uri="{FF2B5EF4-FFF2-40B4-BE49-F238E27FC236}">
                <a16:creationId xmlns:a16="http://schemas.microsoft.com/office/drawing/2014/main" id="{D6CEBF29-ED68-C2BD-C121-843E23B97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57" y="0"/>
            <a:ext cx="724988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74DC-3C11-DC37-B685-4310FAF8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A86BDD-460B-BD3A-5B3D-C17E3CE1ABAA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EB Garamond"/>
              </a:rPr>
              <a:t>Funnel By Traffic Sou</a:t>
            </a:r>
            <a:r>
              <a:rPr lang="en-US" sz="3200" dirty="0">
                <a:solidFill>
                  <a:schemeClr val="dk1"/>
                </a:solidFill>
                <a:latin typeface="EB Garamond"/>
              </a:rPr>
              <a:t>rce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109A96F-33B1-C35F-D4B3-20C2687D0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3534"/>
            <a:ext cx="9144000" cy="1336431"/>
          </a:xfrm>
          <a:prstGeom prst="rect">
            <a:avLst/>
          </a:prstGeom>
        </p:spPr>
      </p:pic>
      <p:cxnSp>
        <p:nvCxnSpPr>
          <p:cNvPr id="3" name="Google Shape;359;p45">
            <a:extLst>
              <a:ext uri="{FF2B5EF4-FFF2-40B4-BE49-F238E27FC236}">
                <a16:creationId xmlns:a16="http://schemas.microsoft.com/office/drawing/2014/main" id="{8C182DB9-4661-74B2-A349-7AF80CB68232}"/>
              </a:ext>
            </a:extLst>
          </p:cNvPr>
          <p:cNvCxnSpPr>
            <a:cxnSpLocks/>
          </p:cNvCxnSpPr>
          <p:nvPr/>
        </p:nvCxnSpPr>
        <p:spPr>
          <a:xfrm>
            <a:off x="476280" y="1161366"/>
            <a:ext cx="4095540" cy="0"/>
          </a:xfrm>
          <a:prstGeom prst="straightConnector1">
            <a:avLst/>
          </a:prstGeom>
          <a:ln w="9525">
            <a:solidFill>
              <a:schemeClr val="tx1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29741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2E50-F0EA-F22A-AC29-61315D6B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 journey&#10;&#10;Description automatically generated">
            <a:extLst>
              <a:ext uri="{FF2B5EF4-FFF2-40B4-BE49-F238E27FC236}">
                <a16:creationId xmlns:a16="http://schemas.microsoft.com/office/drawing/2014/main" id="{1E21D8F6-4F98-489A-310D-609767CC1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63" y="0"/>
            <a:ext cx="54032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51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476280" y="2151934"/>
            <a:ext cx="3619080" cy="2515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Total Revenue :- $ 76037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00" dirty="0">
              <a:solidFill>
                <a:srgbClr val="000000"/>
              </a:solidFill>
              <a:latin typeface="OpenSymbol"/>
            </a:endParaRP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OpenSymbol"/>
              </a:rPr>
              <a:t>Overall Conversion Rate :- 16.6 %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7AB1B892-29C6-0828-C5CB-B1577C9E3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42" y="0"/>
            <a:ext cx="389237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247;p37"/>
          <p:cNvCxnSpPr>
            <a:cxnSpLocks/>
          </p:cNvCxnSpPr>
          <p:nvPr/>
        </p:nvCxnSpPr>
        <p:spPr>
          <a:xfrm>
            <a:off x="237960" y="712860"/>
            <a:ext cx="4622798" cy="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01E1F2E-B994-254F-0A42-AB57F6D1937D}"/>
              </a:ext>
            </a:extLst>
          </p:cNvPr>
          <p:cNvSpPr/>
          <p:nvPr/>
        </p:nvSpPr>
        <p:spPr>
          <a:xfrm>
            <a:off x="237960" y="111895"/>
            <a:ext cx="8191080" cy="601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dirty="0">
                <a:solidFill>
                  <a:schemeClr val="bg1"/>
                </a:solidFill>
                <a:latin typeface="EB Garamond"/>
              </a:rPr>
              <a:t>Business Recommendations</a:t>
            </a:r>
            <a:endParaRPr lang="en-US" sz="3200" b="0" u="none" strike="noStrike" dirty="0">
              <a:solidFill>
                <a:schemeClr val="bg1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DC838714-3722-46A8-6993-2799D31C5527}"/>
              </a:ext>
            </a:extLst>
          </p:cNvPr>
          <p:cNvSpPr txBox="1">
            <a:spLocks/>
          </p:cNvSpPr>
          <p:nvPr/>
        </p:nvSpPr>
        <p:spPr>
          <a:xfrm>
            <a:off x="237960" y="712860"/>
            <a:ext cx="5165938" cy="42303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UX &amp; Website Optimization : Don’t touch the checkout flow, the conversion rates from Checkout Start to Purchase are excellent(~75%).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Marketing Strategy : Stop over-investing in social media for sales, Social media is driving 30% of our traffic volume but has the lowest conversion rate.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Double Down on Email Marketing : Email is our highest converting channel (~63%+ conversion rate vs ~ 14% for social media).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Financial &amp; Revenue : We found our Average Order Value is ~$ 107.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		Action : Set a strict Customer Acquisition Cost (CAC) limit. If we are paying more than $30 - $40 to acquire a customer via Social Media ads (Which convert poorly), we are likely loosing money on those specific transactions.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774;p63"/>
          <p:cNvSpPr/>
          <p:nvPr/>
        </p:nvSpPr>
        <p:spPr>
          <a:xfrm rot="2220000">
            <a:off x="3400200" y="2809800"/>
            <a:ext cx="8856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960" rIns="870823080" bIns="23796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775;p63"/>
          <p:cNvSpPr/>
          <p:nvPr/>
        </p:nvSpPr>
        <p:spPr>
          <a:xfrm rot="2220000">
            <a:off x="4133880" y="2809800"/>
            <a:ext cx="8856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960" rIns="870823080" bIns="23796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776;p63"/>
          <p:cNvSpPr/>
          <p:nvPr/>
        </p:nvSpPr>
        <p:spPr>
          <a:xfrm rot="2220000">
            <a:off x="4857840" y="2809800"/>
            <a:ext cx="88560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960" rIns="870823080" bIns="23796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2514600" y="-288720"/>
            <a:ext cx="4114440" cy="170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0" u="none" strike="noStrike">
                <a:solidFill>
                  <a:schemeClr val="lt1"/>
                </a:solidFill>
                <a:effectLst/>
                <a:uFillTx/>
                <a:latin typeface="EB Garamond"/>
                <a:ea typeface="EB Garamond"/>
              </a:rPr>
              <a:t>Thanks!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2514600" y="1230905"/>
            <a:ext cx="4114440" cy="9592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1" u="none" strike="noStrike" dirty="0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Do you have any questions?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400" dirty="0">
                <a:solidFill>
                  <a:schemeClr val="lt1"/>
                </a:solidFill>
                <a:latin typeface="Cabin"/>
              </a:rPr>
              <a:t>mayankshukla310@gmail.com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 dirty="0">
                <a:solidFill>
                  <a:schemeClr val="lt1"/>
                </a:solidFill>
                <a:effectLst/>
                <a:uFillTx/>
                <a:latin typeface="Cabin"/>
                <a:ea typeface="Cabin"/>
              </a:rPr>
              <a:t>+91  </a:t>
            </a:r>
            <a:r>
              <a:rPr lang="en" sz="1400" dirty="0">
                <a:solidFill>
                  <a:schemeClr val="lt1"/>
                </a:solidFill>
                <a:latin typeface="Cabin"/>
                <a:ea typeface="Cabin"/>
              </a:rPr>
              <a:t>95095 46043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6" name="Google Shape;786;p63"/>
          <p:cNvGrpSpPr/>
          <p:nvPr/>
        </p:nvGrpSpPr>
        <p:grpSpPr>
          <a:xfrm>
            <a:off x="3834177" y="2536740"/>
            <a:ext cx="345600" cy="345240"/>
            <a:chOff x="5137200" y="2871720"/>
            <a:chExt cx="345600" cy="345240"/>
          </a:xfrm>
        </p:grpSpPr>
        <p:sp>
          <p:nvSpPr>
            <p:cNvPr id="157" name="Google Shape;787;p63"/>
            <p:cNvSpPr/>
            <p:nvPr/>
          </p:nvSpPr>
          <p:spPr>
            <a:xfrm>
              <a:off x="5137200" y="28717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788;p63"/>
            <p:cNvSpPr/>
            <p:nvPr/>
          </p:nvSpPr>
          <p:spPr>
            <a:xfrm>
              <a:off x="5216760" y="301032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789;p63">
              <a:hlinkClick r:id="rId2"/>
            </p:cNvPr>
            <p:cNvSpPr/>
            <p:nvPr/>
          </p:nvSpPr>
          <p:spPr>
            <a:xfrm>
              <a:off x="5209560" y="29444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790;p63">
              <a:hlinkClick r:id="rId2"/>
            </p:cNvPr>
            <p:cNvSpPr/>
            <p:nvPr/>
          </p:nvSpPr>
          <p:spPr>
            <a:xfrm>
              <a:off x="5289480" y="301032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61" name="Google Shape;791;p63"/>
          <p:cNvCxnSpPr/>
          <p:nvPr/>
        </p:nvCxnSpPr>
        <p:spPr>
          <a:xfrm flipH="1">
            <a:off x="-185400" y="-574200"/>
            <a:ext cx="726120" cy="486828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cxnSp>
        <p:nvCxnSpPr>
          <p:cNvPr id="162" name="Google Shape;792;p63"/>
          <p:cNvCxnSpPr/>
          <p:nvPr/>
        </p:nvCxnSpPr>
        <p:spPr>
          <a:xfrm flipH="1">
            <a:off x="8433360" y="275040"/>
            <a:ext cx="726480" cy="4868640"/>
          </a:xfrm>
          <a:prstGeom prst="straightConnector1">
            <a:avLst/>
          </a:prstGeom>
          <a:ln w="9525">
            <a:solidFill>
              <a:srgbClr val="F0EBE1"/>
            </a:solidFill>
            <a:round/>
          </a:ln>
        </p:spPr>
      </p:cxnSp>
      <p:pic>
        <p:nvPicPr>
          <p:cNvPr id="5" name="Graphic 4">
            <a:hlinkClick r:id="rId3"/>
            <a:extLst>
              <a:ext uri="{FF2B5EF4-FFF2-40B4-BE49-F238E27FC236}">
                <a16:creationId xmlns:a16="http://schemas.microsoft.com/office/drawing/2014/main" id="{995622CC-B569-BE98-FFEC-2737F4212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2204" y="2536739"/>
            <a:ext cx="1177324" cy="345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3A6D23-8B6B-1E0B-4AC6-7A0B60364B57}"/>
              </a:ext>
            </a:extLst>
          </p:cNvPr>
          <p:cNvSpPr/>
          <p:nvPr/>
        </p:nvSpPr>
        <p:spPr>
          <a:xfrm>
            <a:off x="2426941" y="3719477"/>
            <a:ext cx="4283242" cy="57460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 and Announce Layoffs Workshop by Slidesgo">
  <a:themeElements>
    <a:clrScheme name="Simple Light">
      <a:dk1>
        <a:srgbClr val="232121"/>
      </a:dk1>
      <a:lt1>
        <a:srgbClr val="F0EBE1"/>
      </a:lt1>
      <a:dk2>
        <a:srgbClr val="919996"/>
      </a:dk2>
      <a:lt2>
        <a:srgbClr val="294E4E"/>
      </a:lt2>
      <a:accent1>
        <a:srgbClr val="578C8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0EBE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362</Words>
  <Application>Microsoft Office PowerPoint</Application>
  <PresentationFormat>On-screen Show (16:9)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Cabin</vt:lpstr>
      <vt:lpstr>Courier New</vt:lpstr>
      <vt:lpstr>EB Garamond</vt:lpstr>
      <vt:lpstr>OpenSymbol</vt:lpstr>
      <vt:lpstr>Symbol</vt:lpstr>
      <vt:lpstr>Wingdings</vt:lpstr>
      <vt:lpstr>Communication and Announce Layoffs Workshop by Slidesgo</vt:lpstr>
      <vt:lpstr>Slidesgo Final Pages</vt:lpstr>
      <vt:lpstr>E-Commerce User Conversion Funnel &amp; Revenue Optimization Analysis</vt:lpstr>
      <vt:lpstr>Business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Mayank Shukla</cp:lastModifiedBy>
  <cp:revision>10</cp:revision>
  <dcterms:modified xsi:type="dcterms:W3CDTF">2026-02-21T12:46:01Z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2026-02-20T05:36:04Z</dcterms:created>
  <dc:creator>Unknown Creator</dc:creator>
  <dc:description/>
  <dc:language>en-US</dc:language>
  <cp:lastModifiedBy>Unknown Creator</cp:lastModifiedBy>
  <dcterms:modified xsi:type="dcterms:W3CDTF">2026-02-20T05:36:04Z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